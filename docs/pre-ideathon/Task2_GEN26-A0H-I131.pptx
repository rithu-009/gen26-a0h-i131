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E41BC6-9624-6F0E-9FDA-12F8FD614345}" v="242" dt="2026-10-09T17:45:02.865"/>
    <p1510:client id="{E47EF9C0-AB13-475D-9425-EFBF5B035DF2}" v="730" dt="2026-10-09T17:49:15.9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1" d="100"/>
          <a:sy n="91" d="100"/>
        </p:scale>
        <p:origin x="1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A4E41BC6-9624-6F0E-9FDA-12F8FD614345}"/>
    <pc:docChg chg="modSld sldOrd">
      <pc:chgData name="Guest User" userId="" providerId="Windows Live" clId="Web-{A4E41BC6-9624-6F0E-9FDA-12F8FD614345}" dt="2026-10-09T17:45:02.865" v="234" actId="20577"/>
      <pc:docMkLst>
        <pc:docMk/>
      </pc:docMkLst>
      <pc:sldChg chg="modSp">
        <pc:chgData name="Guest User" userId="" providerId="Windows Live" clId="Web-{A4E41BC6-9624-6F0E-9FDA-12F8FD614345}" dt="2026-10-09T17:44:23.535" v="232" actId="20577"/>
        <pc:sldMkLst>
          <pc:docMk/>
          <pc:sldMk cId="0" sldId="257"/>
        </pc:sldMkLst>
        <pc:spChg chg="mod">
          <ac:chgData name="Guest User" userId="" providerId="Windows Live" clId="Web-{A4E41BC6-9624-6F0E-9FDA-12F8FD614345}" dt="2026-10-09T17:44:23.535" v="232" actId="20577"/>
          <ac:spMkLst>
            <pc:docMk/>
            <pc:sldMk cId="0" sldId="257"/>
            <ac:spMk id="10" creationId="{00000000-0000-0000-0000-000000000000}"/>
          </ac:spMkLst>
        </pc:spChg>
      </pc:sldChg>
      <pc:sldChg chg="modSp">
        <pc:chgData name="Guest User" userId="" providerId="Windows Live" clId="Web-{A4E41BC6-9624-6F0E-9FDA-12F8FD614345}" dt="2026-10-09T17:36:25.626" v="200" actId="20577"/>
        <pc:sldMkLst>
          <pc:docMk/>
          <pc:sldMk cId="0" sldId="258"/>
        </pc:sldMkLst>
        <pc:spChg chg="mod">
          <ac:chgData name="Guest User" userId="" providerId="Windows Live" clId="Web-{A4E41BC6-9624-6F0E-9FDA-12F8FD614345}" dt="2026-10-09T17:36:25.626" v="200" actId="20577"/>
          <ac:spMkLst>
            <pc:docMk/>
            <pc:sldMk cId="0" sldId="258"/>
            <ac:spMk id="19" creationId="{DF2FAA2E-DB13-AA43-BA2C-71B4F164D053}"/>
          </ac:spMkLst>
        </pc:spChg>
      </pc:sldChg>
      <pc:sldChg chg="modSp">
        <pc:chgData name="Guest User" userId="" providerId="Windows Live" clId="Web-{A4E41BC6-9624-6F0E-9FDA-12F8FD614345}" dt="2026-10-09T17:37:25.925" v="205" actId="20577"/>
        <pc:sldMkLst>
          <pc:docMk/>
          <pc:sldMk cId="0" sldId="260"/>
        </pc:sldMkLst>
        <pc:spChg chg="mod">
          <ac:chgData name="Guest User" userId="" providerId="Windows Live" clId="Web-{A4E41BC6-9624-6F0E-9FDA-12F8FD614345}" dt="2026-10-09T17:37:25.925" v="205" actId="20577"/>
          <ac:spMkLst>
            <pc:docMk/>
            <pc:sldMk cId="0" sldId="260"/>
            <ac:spMk id="11" creationId="{10226F94-C424-5B15-2DAE-5AA060DE1454}"/>
          </ac:spMkLst>
        </pc:spChg>
      </pc:sldChg>
      <pc:sldChg chg="modSp">
        <pc:chgData name="Guest User" userId="" providerId="Windows Live" clId="Web-{A4E41BC6-9624-6F0E-9FDA-12F8FD614345}" dt="2026-10-09T17:38:08.598" v="213" actId="20577"/>
        <pc:sldMkLst>
          <pc:docMk/>
          <pc:sldMk cId="0" sldId="261"/>
        </pc:sldMkLst>
        <pc:spChg chg="mod">
          <ac:chgData name="Guest User" userId="" providerId="Windows Live" clId="Web-{A4E41BC6-9624-6F0E-9FDA-12F8FD614345}" dt="2026-10-09T17:38:08.598" v="213" actId="20577"/>
          <ac:spMkLst>
            <pc:docMk/>
            <pc:sldMk cId="0" sldId="261"/>
            <ac:spMk id="10" creationId="{00000000-0000-0000-0000-000000000000}"/>
          </ac:spMkLst>
        </pc:spChg>
      </pc:sldChg>
      <pc:sldChg chg="addSp delSp modSp ord">
        <pc:chgData name="Guest User" userId="" providerId="Windows Live" clId="Web-{A4E41BC6-9624-6F0E-9FDA-12F8FD614345}" dt="2026-10-09T17:45:02.865" v="234" actId="20577"/>
        <pc:sldMkLst>
          <pc:docMk/>
          <pc:sldMk cId="0" sldId="262"/>
        </pc:sldMkLst>
        <pc:spChg chg="mod">
          <ac:chgData name="Guest User" userId="" providerId="Windows Live" clId="Web-{A4E41BC6-9624-6F0E-9FDA-12F8FD614345}" dt="2026-10-09T17:35:34.999" v="180" actId="20577"/>
          <ac:spMkLst>
            <pc:docMk/>
            <pc:sldMk cId="0" sldId="262"/>
            <ac:spMk id="6" creationId="{00000000-0000-0000-0000-000000000000}"/>
          </ac:spMkLst>
        </pc:spChg>
        <pc:spChg chg="add del mod">
          <ac:chgData name="Guest User" userId="" providerId="Windows Live" clId="Web-{A4E41BC6-9624-6F0E-9FDA-12F8FD614345}" dt="2026-10-09T17:45:02.865" v="234" actId="20577"/>
          <ac:spMkLst>
            <pc:docMk/>
            <pc:sldMk cId="0" sldId="262"/>
            <ac:spMk id="10" creationId="{00000000-0000-0000-0000-000000000000}"/>
          </ac:spMkLst>
        </pc:spChg>
      </pc:sldChg>
      <pc:sldChg chg="modSp">
        <pc:chgData name="Guest User" userId="" providerId="Windows Live" clId="Web-{A4E41BC6-9624-6F0E-9FDA-12F8FD614345}" dt="2026-10-09T17:41:20.840" v="230" actId="20577"/>
        <pc:sldMkLst>
          <pc:docMk/>
          <pc:sldMk cId="0" sldId="263"/>
        </pc:sldMkLst>
        <pc:spChg chg="mod">
          <ac:chgData name="Guest User" userId="" providerId="Windows Live" clId="Web-{A4E41BC6-9624-6F0E-9FDA-12F8FD614345}" dt="2026-10-09T17:35:44.296" v="195" actId="20577"/>
          <ac:spMkLst>
            <pc:docMk/>
            <pc:sldMk cId="0" sldId="263"/>
            <ac:spMk id="6" creationId="{00000000-0000-0000-0000-000000000000}"/>
          </ac:spMkLst>
        </pc:spChg>
        <pc:spChg chg="mod">
          <ac:chgData name="Guest User" userId="" providerId="Windows Live" clId="Web-{A4E41BC6-9624-6F0E-9FDA-12F8FD614345}" dt="2026-10-09T17:41:20.840" v="230" actId="20577"/>
          <ac:spMkLst>
            <pc:docMk/>
            <pc:sldMk cId="0" sldId="263"/>
            <ac:spMk id="10" creationId="{00000000-0000-0000-0000-000000000000}"/>
          </ac:spMkLst>
        </pc:spChg>
      </pc:sldChg>
    </pc:docChg>
  </pc:docChgLst>
  <pc:docChgLst>
    <pc:chgData name="Sarvesh Subramanian S" userId="48746ebc4add67f4" providerId="LiveId" clId="{3EFD62FE-5EA6-494D-9CA5-C562B0489BC6}"/>
    <pc:docChg chg="modSld">
      <pc:chgData name="Sarvesh Subramanian S" userId="48746ebc4add67f4" providerId="LiveId" clId="{3EFD62FE-5EA6-494D-9CA5-C562B0489BC6}" dt="2026-10-09T17:35:45.071" v="14"/>
      <pc:docMkLst>
        <pc:docMk/>
      </pc:docMkLst>
      <pc:sldChg chg="modSp">
        <pc:chgData name="Sarvesh Subramanian S" userId="48746ebc4add67f4" providerId="LiveId" clId="{3EFD62FE-5EA6-494D-9CA5-C562B0489BC6}" dt="2026-10-09T17:19:05.310" v="9"/>
        <pc:sldMkLst>
          <pc:docMk/>
          <pc:sldMk cId="0" sldId="260"/>
        </pc:sldMkLst>
        <pc:spChg chg="mod">
          <ac:chgData name="Sarvesh Subramanian S" userId="48746ebc4add67f4" providerId="LiveId" clId="{3EFD62FE-5EA6-494D-9CA5-C562B0489BC6}" dt="2026-10-09T17:19:05.310" v="9"/>
          <ac:spMkLst>
            <pc:docMk/>
            <pc:sldMk cId="0" sldId="260"/>
            <ac:spMk id="11" creationId="{10226F94-C424-5B15-2DAE-5AA060DE1454}"/>
          </ac:spMkLst>
        </pc:spChg>
      </pc:sldChg>
      <pc:sldChg chg="modSp">
        <pc:chgData name="Sarvesh Subramanian S" userId="48746ebc4add67f4" providerId="LiveId" clId="{3EFD62FE-5EA6-494D-9CA5-C562B0489BC6}" dt="2026-10-09T17:05:16.021" v="3"/>
        <pc:sldMkLst>
          <pc:docMk/>
          <pc:sldMk cId="0" sldId="261"/>
        </pc:sldMkLst>
        <pc:spChg chg="mod">
          <ac:chgData name="Sarvesh Subramanian S" userId="48746ebc4add67f4" providerId="LiveId" clId="{3EFD62FE-5EA6-494D-9CA5-C562B0489BC6}" dt="2026-10-09T17:05:16.021" v="3"/>
          <ac:spMkLst>
            <pc:docMk/>
            <pc:sldMk cId="0" sldId="261"/>
            <ac:spMk id="10" creationId="{00000000-0000-0000-0000-000000000000}"/>
          </ac:spMkLst>
        </pc:spChg>
      </pc:sldChg>
      <pc:sldChg chg="modSp">
        <pc:chgData name="Sarvesh Subramanian S" userId="48746ebc4add67f4" providerId="LiveId" clId="{3EFD62FE-5EA6-494D-9CA5-C562B0489BC6}" dt="2026-10-09T17:35:45.071" v="14"/>
        <pc:sldMkLst>
          <pc:docMk/>
          <pc:sldMk cId="0" sldId="263"/>
        </pc:sldMkLst>
        <pc:spChg chg="mod">
          <ac:chgData name="Sarvesh Subramanian S" userId="48746ebc4add67f4" providerId="LiveId" clId="{3EFD62FE-5EA6-494D-9CA5-C562B0489BC6}" dt="2026-10-09T17:35:45.071" v="14"/>
          <ac:spMkLst>
            <pc:docMk/>
            <pc:sldMk cId="0" sldId="263"/>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6495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txBody>
          <a:bodyPr/>
          <a:lstStyle/>
          <a:p>
            <a:endParaRPr lang="en-US"/>
          </a:p>
        </p:txBody>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txBody>
          <a:bodyPr/>
          <a:lstStyle/>
          <a:p>
            <a:endParaRPr lang="en-US"/>
          </a:p>
        </p:txBody>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txBody>
          <a:bodyPr/>
          <a:lstStyle/>
          <a:p>
            <a:endParaRPr lang="en-US"/>
          </a:p>
        </p:txBody>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txBody>
          <a:bodyPr/>
          <a:lstStyle/>
          <a:p>
            <a:endParaRPr lang="en-US"/>
          </a:p>
        </p:txBody>
      </p:sp>
      <p:sp>
        <p:nvSpPr>
          <p:cNvPr id="5" name="Cover Hexagon"/>
          <p:cNvSpPr/>
          <p:nvPr/>
        </p:nvSpPr>
        <p:spPr>
          <a:xfrm rot="5400000">
            <a:off x="6613359" y="3177540"/>
            <a:ext cx="580722" cy="502920"/>
          </a:xfrm>
          <a:prstGeom prst="hexagon">
            <a:avLst/>
          </a:prstGeom>
          <a:solidFill>
            <a:schemeClr val="accent3"/>
          </a:solidFill>
          <a:ln/>
        </p:spPr>
        <p:txBody>
          <a:bodyPr/>
          <a:lstStyle/>
          <a:p>
            <a:endParaRPr lang="en-US"/>
          </a:p>
        </p:txBody>
      </p:sp>
      <p:sp>
        <p:nvSpPr>
          <p:cNvPr id="6" name="Cover Hexagon"/>
          <p:cNvSpPr/>
          <p:nvPr/>
        </p:nvSpPr>
        <p:spPr>
          <a:xfrm rot="5400000">
            <a:off x="10849583" y="1728216"/>
            <a:ext cx="337874" cy="292608"/>
          </a:xfrm>
          <a:prstGeom prst="hexagon">
            <a:avLst/>
          </a:prstGeom>
          <a:solidFill>
            <a:schemeClr val="accent3">
              <a:alpha val="70000"/>
            </a:schemeClr>
          </a:solidFill>
          <a:ln/>
        </p:spPr>
        <p:txBody>
          <a:bodyPr/>
          <a:lstStyle/>
          <a:p>
            <a:endParaRPr lang="en-US"/>
          </a:p>
        </p:txBody>
      </p:sp>
      <p:sp>
        <p:nvSpPr>
          <p:cNvPr id="7" name="Cover Hexagon"/>
          <p:cNvSpPr/>
          <p:nvPr/>
        </p:nvSpPr>
        <p:spPr>
          <a:xfrm rot="5400000">
            <a:off x="6868728" y="1440180"/>
            <a:ext cx="4276224" cy="3703320"/>
          </a:xfrm>
          <a:prstGeom prst="hexagon">
            <a:avLst/>
          </a:prstGeom>
          <a:solidFill>
            <a:schemeClr val="accent1">
              <a:alpha val="45000"/>
            </a:schemeClr>
          </a:solidFill>
          <a:ln/>
        </p:spPr>
        <p:txBody>
          <a:bodyPr/>
          <a:lstStyle/>
          <a:p>
            <a:endParaRPr lang="en-US"/>
          </a:p>
        </p:txBody>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txBody>
          <a:bodyPr/>
          <a:lstStyle/>
          <a:p>
            <a:endParaRPr lang="en-US"/>
          </a:p>
        </p:txBody>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txBody>
          <a:bodyPr/>
          <a:lstStyle/>
          <a:p>
            <a:endParaRPr lang="en-US"/>
          </a:p>
        </p:txBody>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2" name="Event Title"/>
          <p:cNvSpPr txBox="1"/>
          <p:nvPr/>
        </p:nvSpPr>
        <p:spPr>
          <a:xfrm>
            <a:off x="548640" y="568499"/>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5" name="Cover Fields"/>
          <p:cNvSpPr txBox="1"/>
          <p:nvPr/>
        </p:nvSpPr>
        <p:spPr>
          <a:xfrm>
            <a:off x="548640" y="3429000"/>
            <a:ext cx="6035040"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 </a:t>
            </a:r>
            <a:r>
              <a:rPr lang="en-US" sz="1800" dirty="0" err="1">
                <a:solidFill>
                  <a:schemeClr val="bg1"/>
                </a:solidFill>
              </a:rPr>
              <a:t>Zenix</a:t>
            </a:r>
            <a:r>
              <a:rPr lang="en-US" sz="1800" dirty="0">
                <a:solidFill>
                  <a:schemeClr val="bg1"/>
                </a:solidFill>
              </a:rPr>
              <a:t>	</a:t>
            </a:r>
            <a:endParaRPr lang="en-US" sz="1800" dirty="0"/>
          </a:p>
          <a:p>
            <a:pPr marL="279400" indent="-279400">
              <a:spcAft>
                <a:spcPts val="1400"/>
              </a:spcAft>
              <a:buClr>
                <a:schemeClr val="accent3"/>
              </a:buClr>
              <a:buSzPct val="100000"/>
              <a:buChar char="•"/>
            </a:pPr>
            <a:r>
              <a:rPr lang="en-US" sz="1800" dirty="0">
                <a:solidFill>
                  <a:schemeClr val="bg1"/>
                </a:solidFill>
              </a:rPr>
              <a:t>Team Members – R Rithikaa (CB.SC.U4CYS26047) , Sarvesh Subramanian S (CB.SC.U4CYS26052) , Anushka </a:t>
            </a:r>
            <a:r>
              <a:rPr lang="en-US" sz="1800" dirty="0" err="1">
                <a:solidFill>
                  <a:schemeClr val="bg1"/>
                </a:solidFill>
              </a:rPr>
              <a:t>Acharjee</a:t>
            </a:r>
            <a:r>
              <a:rPr lang="en-US" sz="1800" dirty="0">
                <a:solidFill>
                  <a:schemeClr val="bg1"/>
                </a:solidFill>
              </a:rPr>
              <a:t> (CB.SC.U4CYS26007) </a:t>
            </a:r>
            <a:r>
              <a:rPr lang="en-US" dirty="0">
                <a:solidFill>
                  <a:schemeClr val="bg1"/>
                </a:solidFill>
              </a:rPr>
              <a:t>, </a:t>
            </a:r>
            <a:r>
              <a:rPr lang="en-US" dirty="0" err="1">
                <a:solidFill>
                  <a:schemeClr val="bg1"/>
                </a:solidFill>
              </a:rPr>
              <a:t>Aachitya</a:t>
            </a:r>
            <a:r>
              <a:rPr lang="en-US" dirty="0">
                <a:solidFill>
                  <a:schemeClr val="bg1"/>
                </a:solidFill>
              </a:rPr>
              <a:t> Singh (CB.SC.U4CYS26002)</a:t>
            </a:r>
          </a:p>
          <a:p>
            <a:pPr marL="279400" indent="-279400">
              <a:spcAft>
                <a:spcPts val="1400"/>
              </a:spcAft>
              <a:buClr>
                <a:schemeClr val="accent3"/>
              </a:buClr>
              <a:buSzPct val="100000"/>
              <a:buChar char="•"/>
            </a:pPr>
            <a:r>
              <a:rPr lang="en-US" sz="1800" dirty="0">
                <a:solidFill>
                  <a:schemeClr val="bg1"/>
                </a:solidFill>
              </a:rPr>
              <a:t>Selected Domain – Domain 2</a:t>
            </a:r>
            <a:endParaRPr lang="en-US" sz="1800" dirty="0"/>
          </a:p>
          <a:p>
            <a:pPr marL="279400" indent="-279400">
              <a:spcAft>
                <a:spcPts val="1400"/>
              </a:spcAft>
              <a:buClr>
                <a:schemeClr val="accent3"/>
              </a:buClr>
              <a:buSzPct val="100000"/>
              <a:buChar char="•"/>
            </a:pPr>
            <a:r>
              <a:rPr lang="en-US" sz="1800" dirty="0">
                <a:solidFill>
                  <a:schemeClr val="bg1"/>
                </a:solidFill>
              </a:rPr>
              <a:t>Problem Statement – The lack of integrated, real-time public transport information makes local bus travel </a:t>
            </a:r>
            <a:r>
              <a:rPr lang="en-US" dirty="0">
                <a:solidFill>
                  <a:schemeClr val="bg1"/>
                </a:solidFill>
              </a:rPr>
              <a:t>unpredictable and discourages people from choosing buses over private vehicles for commuting within the district.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US"/>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US"/>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Zenix</a:t>
            </a:r>
            <a:endParaRPr lang="en-US" sz="900" dirty="0"/>
          </a:p>
        </p:txBody>
      </p:sp>
      <p:sp>
        <p:nvSpPr>
          <p:cNvPr id="10" name="Prompts"/>
          <p:cNvSpPr txBox="1"/>
          <p:nvPr/>
        </p:nvSpPr>
        <p:spPr>
          <a:xfrm>
            <a:off x="918972" y="1327355"/>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b="1"/>
              <a:t>What exactly needs to be solved?</a:t>
            </a:r>
            <a:endParaRPr lang="en-US" b="1">
              <a:ea typeface="Calibri"/>
              <a:cs typeface="Calibri"/>
            </a:endParaRPr>
          </a:p>
          <a:p>
            <a:pPr>
              <a:spcAft>
                <a:spcPts val="1000"/>
              </a:spcAft>
              <a:buClr>
                <a:schemeClr val="accent1"/>
              </a:buClr>
              <a:buSzPct val="100000"/>
            </a:pPr>
            <a:r>
              <a:rPr lang="en-US" dirty="0"/>
              <a:t>	Public transport users often have to make important travel decisions with incomplete information. They may know a bus route or timetable, but not its real time location, actual arrival time, traffic related delays, crowd levels, journey duration, or fare. This uncertainty makes bus travel unpredictable and can discourage people from choosing public transport. Our project aims to integrate these services into a single, real-time system that helps passengers make informed decisions about when to leave, which bus to take, and how to reach their destination efficiently, making bus travel a more convenient, feasible and reliable alternative to private vehicles.</a:t>
            </a:r>
          </a:p>
          <a:p>
            <a:pPr marL="279400" indent="-279400">
              <a:spcAft>
                <a:spcPts val="1000"/>
              </a:spcAft>
              <a:buClr>
                <a:schemeClr val="accent1"/>
              </a:buClr>
              <a:buSzPct val="100000"/>
              <a:buChar char="•"/>
            </a:pPr>
            <a:r>
              <a:rPr lang="en-US" b="1"/>
              <a:t>Why it is important right now:</a:t>
            </a:r>
            <a:endParaRPr lang="en-US" b="1">
              <a:ea typeface="Calibri"/>
              <a:cs typeface="Calibri"/>
            </a:endParaRPr>
          </a:p>
          <a:p>
            <a:pPr>
              <a:spcAft>
                <a:spcPts val="1000"/>
              </a:spcAft>
              <a:buClr>
                <a:schemeClr val="accent1"/>
              </a:buClr>
              <a:buSzPct val="100000"/>
            </a:pPr>
            <a:r>
              <a:rPr lang="en-US" dirty="0"/>
              <a:t>	Even though our city has an abundance of public buses and extensive routes, many people still prefer private vehicles because public transportation can feel inconvenient, unpredictable, and difficult to plan around. As the population continues to grow and more people travel for education, work, and everyday needs, there is a growing need to make public transportation more convenient and accessible. By using technology to make bus travel more reliable, predictable, and user-friendly, we can encourage more people to confidently choose public buses for their daily journeys. This can also help reduce unnecessary dependence on private vehicles and contribute to less traffic congestion across our districts.</a:t>
            </a:r>
          </a:p>
          <a:p>
            <a:pPr>
              <a:spcAft>
                <a:spcPts val="1000"/>
              </a:spcAft>
              <a:buClr>
                <a:schemeClr val="accent1"/>
              </a:buClr>
              <a:buSzPct val="100000"/>
            </a:pPr>
            <a:endParaRPr lang="en-US"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8" name="Lead Icon Hex">
            <a:extLst>
              <a:ext uri="{FF2B5EF4-FFF2-40B4-BE49-F238E27FC236}">
                <a16:creationId xmlns:a16="http://schemas.microsoft.com/office/drawing/2014/main" id="{5A1691CE-8F42-A0FC-4BA4-2A0237CDA7CB}"/>
              </a:ext>
            </a:extLst>
          </p:cNvPr>
          <p:cNvSpPr/>
          <p:nvPr/>
        </p:nvSpPr>
        <p:spPr>
          <a:xfrm>
            <a:off x="327857" y="4082199"/>
            <a:ext cx="457200" cy="395935"/>
          </a:xfrm>
          <a:prstGeom prst="hexagon">
            <a:avLst/>
          </a:prstGeom>
          <a:solidFill>
            <a:schemeClr val="accent3"/>
          </a:solidFill>
          <a:ln/>
        </p:spPr>
        <p:txBody>
          <a:bodyPr/>
          <a:lstStyle/>
          <a:p>
            <a:endParaRPr lang="en-US" dirty="0"/>
          </a:p>
        </p:txBody>
      </p:sp>
      <p:sp>
        <p:nvSpPr>
          <p:cNvPr id="15" name="Lead Icon Hex">
            <a:extLst>
              <a:ext uri="{FF2B5EF4-FFF2-40B4-BE49-F238E27FC236}">
                <a16:creationId xmlns:a16="http://schemas.microsoft.com/office/drawing/2014/main" id="{C46E5C11-D568-AF12-E2F2-079B96DA179E}"/>
              </a:ext>
            </a:extLst>
          </p:cNvPr>
          <p:cNvSpPr/>
          <p:nvPr/>
        </p:nvSpPr>
        <p:spPr>
          <a:xfrm>
            <a:off x="312961" y="2710889"/>
            <a:ext cx="457200" cy="395935"/>
          </a:xfrm>
          <a:prstGeom prst="hexagon">
            <a:avLst/>
          </a:prstGeom>
          <a:solidFill>
            <a:schemeClr val="accent3"/>
          </a:solidFill>
          <a:ln/>
        </p:spPr>
        <p:txBody>
          <a:bodyPr/>
          <a:lstStyle/>
          <a:p>
            <a:endParaRPr lang="en-US" dirty="0"/>
          </a:p>
        </p:txBody>
      </p:sp>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US"/>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US"/>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284732" y="353044"/>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Zenix</a:t>
            </a:r>
            <a:endParaRPr lang="en-US" sz="900" dirty="0"/>
          </a:p>
        </p:txBody>
      </p:sp>
      <p:sp>
        <p:nvSpPr>
          <p:cNvPr id="7" name="Lead Icon Hex"/>
          <p:cNvSpPr/>
          <p:nvPr/>
        </p:nvSpPr>
        <p:spPr>
          <a:xfrm>
            <a:off x="312961" y="1325881"/>
            <a:ext cx="457200" cy="395935"/>
          </a:xfrm>
          <a:prstGeom prst="hexagon">
            <a:avLst/>
          </a:prstGeom>
          <a:solidFill>
            <a:schemeClr val="accent3"/>
          </a:solidFill>
          <a:ln/>
        </p:spPr>
        <p:txBody>
          <a:bodyPr/>
          <a:lstStyle/>
          <a:p>
            <a:endParaRPr lang="en-US"/>
          </a:p>
        </p:txBody>
      </p:sp>
      <p:pic>
        <p:nvPicPr>
          <p:cNvPr id="8" name="Lead Icon" descr="Lightbulb icon"/>
          <p:cNvPicPr>
            <a:picLocks noChangeAspect="1"/>
          </p:cNvPicPr>
          <p:nvPr/>
        </p:nvPicPr>
        <p:blipFill>
          <a:blip r:embed="rId4"/>
          <a:stretch>
            <a:fillRect/>
          </a:stretch>
        </p:blipFill>
        <p:spPr>
          <a:xfrm>
            <a:off x="404401" y="1417320"/>
            <a:ext cx="274320" cy="274320"/>
          </a:xfrm>
          <a:prstGeom prst="rect">
            <a:avLst/>
          </a:prstGeom>
        </p:spPr>
      </p:pic>
      <p:sp>
        <p:nvSpPr>
          <p:cNvPr id="9" name="Lead Text"/>
          <p:cNvSpPr txBox="1"/>
          <p:nvPr/>
        </p:nvSpPr>
        <p:spPr>
          <a:xfrm>
            <a:off x="781812" y="1269213"/>
            <a:ext cx="9601200" cy="502920"/>
          </a:xfrm>
          <a:prstGeom prst="rect">
            <a:avLst/>
          </a:prstGeom>
          <a:noFill/>
          <a:ln/>
        </p:spPr>
        <p:txBody>
          <a:bodyPr wrap="square" lIns="0" tIns="0" rIns="0" bIns="0" rtlCol="0" anchor="ctr"/>
          <a:lstStyle/>
          <a:p>
            <a:pPr marL="0" indent="0">
              <a:buNone/>
            </a:pPr>
            <a:r>
              <a:rPr lang="en-US" sz="1800" b="1" dirty="0">
                <a:latin typeface="+mj-lt"/>
              </a:rPr>
              <a:t>Primary users'/ target group</a:t>
            </a:r>
            <a:r>
              <a:rPr lang="en-US" sz="1800" b="1" dirty="0"/>
              <a:t>:</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pic>
        <p:nvPicPr>
          <p:cNvPr id="13" name="Lead Icon" descr="Lightbulb icon">
            <a:extLst>
              <a:ext uri="{FF2B5EF4-FFF2-40B4-BE49-F238E27FC236}">
                <a16:creationId xmlns:a16="http://schemas.microsoft.com/office/drawing/2014/main" id="{D783D10A-6497-DF3E-4259-8F0250E3C9A2}"/>
              </a:ext>
            </a:extLst>
          </p:cNvPr>
          <p:cNvPicPr>
            <a:picLocks noChangeAspect="1"/>
          </p:cNvPicPr>
          <p:nvPr/>
        </p:nvPicPr>
        <p:blipFill>
          <a:blip r:embed="rId4"/>
          <a:stretch>
            <a:fillRect/>
          </a:stretch>
        </p:blipFill>
        <p:spPr>
          <a:xfrm>
            <a:off x="404401" y="2785348"/>
            <a:ext cx="274320" cy="274320"/>
          </a:xfrm>
          <a:prstGeom prst="rect">
            <a:avLst/>
          </a:prstGeom>
        </p:spPr>
      </p:pic>
      <p:sp>
        <p:nvSpPr>
          <p:cNvPr id="16" name="TextBox 15">
            <a:extLst>
              <a:ext uri="{FF2B5EF4-FFF2-40B4-BE49-F238E27FC236}">
                <a16:creationId xmlns:a16="http://schemas.microsoft.com/office/drawing/2014/main" id="{D62ED94C-E912-5809-3C4B-9E771E741081}"/>
              </a:ext>
            </a:extLst>
          </p:cNvPr>
          <p:cNvSpPr txBox="1"/>
          <p:nvPr/>
        </p:nvSpPr>
        <p:spPr>
          <a:xfrm>
            <a:off x="849950" y="2682027"/>
            <a:ext cx="2819892" cy="369332"/>
          </a:xfrm>
          <a:prstGeom prst="rect">
            <a:avLst/>
          </a:prstGeom>
          <a:noFill/>
        </p:spPr>
        <p:txBody>
          <a:bodyPr wrap="square" rtlCol="0">
            <a:spAutoFit/>
          </a:bodyPr>
          <a:lstStyle/>
          <a:p>
            <a:r>
              <a:rPr lang="en-IN" b="1" dirty="0">
                <a:latin typeface="+mj-lt"/>
              </a:rPr>
              <a:t>Secondary stakeholders</a:t>
            </a:r>
            <a:r>
              <a:rPr lang="en-IN" b="1" dirty="0"/>
              <a:t>:</a:t>
            </a:r>
          </a:p>
        </p:txBody>
      </p:sp>
      <p:sp>
        <p:nvSpPr>
          <p:cNvPr id="18" name="TextBox 17">
            <a:extLst>
              <a:ext uri="{FF2B5EF4-FFF2-40B4-BE49-F238E27FC236}">
                <a16:creationId xmlns:a16="http://schemas.microsoft.com/office/drawing/2014/main" id="{A701EB94-3303-272C-2B64-983EFD182EC4}"/>
              </a:ext>
            </a:extLst>
          </p:cNvPr>
          <p:cNvSpPr txBox="1"/>
          <p:nvPr/>
        </p:nvSpPr>
        <p:spPr>
          <a:xfrm>
            <a:off x="758510" y="3047596"/>
            <a:ext cx="10892716" cy="1015663"/>
          </a:xfrm>
          <a:prstGeom prst="rect">
            <a:avLst/>
          </a:prstGeom>
          <a:noFill/>
        </p:spPr>
        <p:txBody>
          <a:bodyPr wrap="square" rtlCol="0">
            <a:spAutoFit/>
          </a:bodyPr>
          <a:lstStyle/>
          <a:p>
            <a:pPr marL="285750" indent="-285750">
              <a:buFont typeface="Arial" panose="020B0604020202020204" pitchFamily="34" charset="0"/>
              <a:buChar char="•"/>
            </a:pPr>
            <a:r>
              <a:rPr lang="en-IN" sz="1400" dirty="0"/>
              <a:t>Local bus operators and transport authorities with responsibilities of managing bus services.</a:t>
            </a:r>
          </a:p>
          <a:p>
            <a:pPr marL="285750" indent="-285750">
              <a:buFont typeface="Arial" panose="020B0604020202020204" pitchFamily="34" charset="0"/>
              <a:buChar char="•"/>
            </a:pPr>
            <a:r>
              <a:rPr lang="en-IN" sz="1400" dirty="0"/>
              <a:t>Bus drivers and conductors who directly communicate with the passengers.</a:t>
            </a:r>
          </a:p>
          <a:p>
            <a:pPr marL="285750" indent="-285750">
              <a:buFont typeface="Arial" panose="020B0604020202020204" pitchFamily="34" charset="0"/>
              <a:buChar char="•"/>
            </a:pPr>
            <a:r>
              <a:rPr lang="en-IN" sz="1400" dirty="0"/>
              <a:t>Local government bodies working to improve traffic congestion and mobility.</a:t>
            </a:r>
          </a:p>
          <a:p>
            <a:pPr marL="285750" indent="-285750">
              <a:buFont typeface="Arial" panose="020B0604020202020204" pitchFamily="34" charset="0"/>
              <a:buChar char="•"/>
            </a:pPr>
            <a:endParaRPr lang="en-IN" dirty="0"/>
          </a:p>
        </p:txBody>
      </p:sp>
      <p:sp>
        <p:nvSpPr>
          <p:cNvPr id="19" name="TextBox 18">
            <a:extLst>
              <a:ext uri="{FF2B5EF4-FFF2-40B4-BE49-F238E27FC236}">
                <a16:creationId xmlns:a16="http://schemas.microsoft.com/office/drawing/2014/main" id="{DF2FAA2E-DB13-AA43-BA2C-71B4F164D053}"/>
              </a:ext>
            </a:extLst>
          </p:cNvPr>
          <p:cNvSpPr txBox="1"/>
          <p:nvPr/>
        </p:nvSpPr>
        <p:spPr>
          <a:xfrm>
            <a:off x="758510" y="1735358"/>
            <a:ext cx="10804225" cy="738664"/>
          </a:xfrm>
          <a:prstGeom prst="rect">
            <a:avLst/>
          </a:prstGeom>
          <a:noFill/>
        </p:spPr>
        <p:txBody>
          <a:bodyPr wrap="square" lIns="91440" tIns="45720" rIns="91440" bIns="45720" rtlCol="0">
            <a:spAutoFit/>
          </a:bodyPr>
          <a:lstStyle/>
          <a:p>
            <a:pPr marL="285750" indent="-285750">
              <a:buFont typeface="Arial" panose="020B0604020202020204" pitchFamily="34" charset="0"/>
              <a:buChar char="•"/>
            </a:pPr>
            <a:r>
              <a:rPr lang="en-US" sz="1400" dirty="0"/>
              <a:t>Daily commuters travelling to work, education and essential activities.</a:t>
            </a:r>
          </a:p>
          <a:p>
            <a:pPr marL="285750" indent="-285750">
              <a:buFont typeface="Arial" panose="020B0604020202020204" pitchFamily="34" charset="0"/>
              <a:buChar char="•"/>
            </a:pPr>
            <a:r>
              <a:rPr lang="en-US" sz="1400" dirty="0"/>
              <a:t>Students and college goers who rely </a:t>
            </a:r>
            <a:r>
              <a:rPr lang="en-US" sz="1400"/>
              <a:t>solely </a:t>
            </a:r>
            <a:r>
              <a:rPr lang="en-US" sz="1400" dirty="0"/>
              <a:t>on college buses to reach on time</a:t>
            </a:r>
            <a:endParaRPr lang="en-US" sz="1400">
              <a:ea typeface="Calibri"/>
              <a:cs typeface="Calibri"/>
            </a:endParaRPr>
          </a:p>
          <a:p>
            <a:pPr marL="285750" indent="-285750">
              <a:buFont typeface="Arial" panose="020B0604020202020204" pitchFamily="34" charset="0"/>
              <a:buChar char="•"/>
            </a:pPr>
            <a:r>
              <a:rPr lang="en-US" sz="1400" dirty="0"/>
              <a:t>Passengers who are unaware of bus timings, routes, stops and connecting services</a:t>
            </a:r>
            <a:endParaRPr lang="en-IN" sz="1400" dirty="0"/>
          </a:p>
        </p:txBody>
      </p:sp>
      <p:pic>
        <p:nvPicPr>
          <p:cNvPr id="26" name="Lead Icon" descr="Lightbulb icon">
            <a:extLst>
              <a:ext uri="{FF2B5EF4-FFF2-40B4-BE49-F238E27FC236}">
                <a16:creationId xmlns:a16="http://schemas.microsoft.com/office/drawing/2014/main" id="{BFE49CBB-8C8C-D450-8D3C-129C01510DAB}"/>
              </a:ext>
            </a:extLst>
          </p:cNvPr>
          <p:cNvPicPr>
            <a:picLocks noChangeAspect="1"/>
          </p:cNvPicPr>
          <p:nvPr/>
        </p:nvPicPr>
        <p:blipFill>
          <a:blip r:embed="rId4"/>
          <a:stretch>
            <a:fillRect/>
          </a:stretch>
        </p:blipFill>
        <p:spPr>
          <a:xfrm>
            <a:off x="420919" y="4169737"/>
            <a:ext cx="274320" cy="274320"/>
          </a:xfrm>
          <a:prstGeom prst="rect">
            <a:avLst/>
          </a:prstGeom>
        </p:spPr>
      </p:pic>
      <p:sp>
        <p:nvSpPr>
          <p:cNvPr id="29" name="TextBox 28">
            <a:extLst>
              <a:ext uri="{FF2B5EF4-FFF2-40B4-BE49-F238E27FC236}">
                <a16:creationId xmlns:a16="http://schemas.microsoft.com/office/drawing/2014/main" id="{10D38C7A-0C55-730D-567F-34DD669B08C2}"/>
              </a:ext>
            </a:extLst>
          </p:cNvPr>
          <p:cNvSpPr txBox="1"/>
          <p:nvPr/>
        </p:nvSpPr>
        <p:spPr>
          <a:xfrm>
            <a:off x="918972" y="4122231"/>
            <a:ext cx="4196983" cy="369332"/>
          </a:xfrm>
          <a:prstGeom prst="rect">
            <a:avLst/>
          </a:prstGeom>
          <a:noFill/>
        </p:spPr>
        <p:txBody>
          <a:bodyPr wrap="none" rtlCol="0">
            <a:spAutoFit/>
          </a:bodyPr>
          <a:lstStyle/>
          <a:p>
            <a:r>
              <a:rPr lang="en-IN" b="1" dirty="0">
                <a:latin typeface="+mj-lt"/>
              </a:rPr>
              <a:t>Who benefits if the problem is solved?</a:t>
            </a:r>
          </a:p>
        </p:txBody>
      </p:sp>
      <p:sp>
        <p:nvSpPr>
          <p:cNvPr id="30" name="TextBox 29">
            <a:extLst>
              <a:ext uri="{FF2B5EF4-FFF2-40B4-BE49-F238E27FC236}">
                <a16:creationId xmlns:a16="http://schemas.microsoft.com/office/drawing/2014/main" id="{0DB8718B-8915-6A4D-63D8-7CAAD0943B24}"/>
              </a:ext>
            </a:extLst>
          </p:cNvPr>
          <p:cNvSpPr txBox="1"/>
          <p:nvPr/>
        </p:nvSpPr>
        <p:spPr>
          <a:xfrm>
            <a:off x="773110" y="4550535"/>
            <a:ext cx="8988936" cy="738664"/>
          </a:xfrm>
          <a:prstGeom prst="rect">
            <a:avLst/>
          </a:prstGeom>
          <a:noFill/>
        </p:spPr>
        <p:txBody>
          <a:bodyPr wrap="none" rtlCol="0">
            <a:spAutoFit/>
          </a:bodyPr>
          <a:lstStyle/>
          <a:p>
            <a:pPr marL="285750" indent="-285750">
              <a:buFont typeface="Arial" panose="020B0604020202020204" pitchFamily="34" charset="0"/>
              <a:buChar char="•"/>
            </a:pPr>
            <a:r>
              <a:rPr lang="en-IN" sz="1400" dirty="0"/>
              <a:t>Passengers- Better journey planning, less uncertainty, and more informed travel decisions.</a:t>
            </a:r>
          </a:p>
          <a:p>
            <a:pPr marL="285750" indent="-285750">
              <a:buFont typeface="Arial" panose="020B0604020202020204" pitchFamily="34" charset="0"/>
              <a:buChar char="•"/>
            </a:pPr>
            <a:r>
              <a:rPr lang="en-IN" sz="1400" dirty="0"/>
              <a:t>Transport Authorities- Better visibility into service performance and passenger demand.</a:t>
            </a:r>
          </a:p>
          <a:p>
            <a:pPr marL="285750" indent="-285750">
              <a:buFont typeface="Arial" panose="020B0604020202020204" pitchFamily="34" charset="0"/>
              <a:buChar char="•"/>
            </a:pPr>
            <a:r>
              <a:rPr lang="en-IN" sz="1400" dirty="0"/>
              <a:t>The environment- Potential reduction in traffic congestion and private vehicle emissions if public bus usage increases.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US"/>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US"/>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Zenix</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US"/>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b="1" dirty="0">
                <a:latin typeface="+mj-lt"/>
              </a:rPr>
              <a:t>Existing scenario</a:t>
            </a:r>
            <a:endParaRPr lang="en-US" sz="1800" b="1" dirty="0">
              <a:latin typeface="+mj-lt"/>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
        <p:nvSpPr>
          <p:cNvPr id="11" name="TextBox 10">
            <a:extLst>
              <a:ext uri="{FF2B5EF4-FFF2-40B4-BE49-F238E27FC236}">
                <a16:creationId xmlns:a16="http://schemas.microsoft.com/office/drawing/2014/main" id="{CEE37546-C73E-BFF9-F608-CD9254F3CF43}"/>
              </a:ext>
            </a:extLst>
          </p:cNvPr>
          <p:cNvSpPr txBox="1"/>
          <p:nvPr/>
        </p:nvSpPr>
        <p:spPr>
          <a:xfrm>
            <a:off x="1101852" y="1858975"/>
            <a:ext cx="10496280" cy="954107"/>
          </a:xfrm>
          <a:prstGeom prst="rect">
            <a:avLst/>
          </a:prstGeom>
          <a:noFill/>
        </p:spPr>
        <p:txBody>
          <a:bodyPr wrap="square" rtlCol="0">
            <a:spAutoFit/>
          </a:bodyPr>
          <a:lstStyle/>
          <a:p>
            <a:r>
              <a:rPr lang="en-IN" sz="1400" dirty="0"/>
              <a:t>	Local buses often provide an important mode of transportation for daily commuters, students and workers. And the passengers often depend on timetable, bus stop information, local knowledge or inquiries to find the proper bus, and the information about delayed buses, estimated arrival times, and route connections may not be available in one single accessible platform. As a result, passengers may face difficulties in planning journeys, especially on unfamiliar routes or when connecting between buses. </a:t>
            </a:r>
          </a:p>
        </p:txBody>
      </p:sp>
      <p:sp>
        <p:nvSpPr>
          <p:cNvPr id="13" name="Lead Icon Hex">
            <a:extLst>
              <a:ext uri="{FF2B5EF4-FFF2-40B4-BE49-F238E27FC236}">
                <a16:creationId xmlns:a16="http://schemas.microsoft.com/office/drawing/2014/main" id="{88B4FD39-7D14-83AE-A6EB-94CE6D173A0A}"/>
              </a:ext>
            </a:extLst>
          </p:cNvPr>
          <p:cNvSpPr/>
          <p:nvPr/>
        </p:nvSpPr>
        <p:spPr>
          <a:xfrm>
            <a:off x="548640" y="3016045"/>
            <a:ext cx="457200" cy="395935"/>
          </a:xfrm>
          <a:prstGeom prst="hexagon">
            <a:avLst/>
          </a:prstGeom>
          <a:solidFill>
            <a:schemeClr val="accent3"/>
          </a:solidFill>
          <a:ln/>
        </p:spPr>
        <p:txBody>
          <a:bodyPr/>
          <a:lstStyle/>
          <a:p>
            <a:endParaRPr lang="en-US"/>
          </a:p>
        </p:txBody>
      </p:sp>
      <p:pic>
        <p:nvPicPr>
          <p:cNvPr id="15" name="Lead Icon" descr="Lightbulb icon">
            <a:extLst>
              <a:ext uri="{FF2B5EF4-FFF2-40B4-BE49-F238E27FC236}">
                <a16:creationId xmlns:a16="http://schemas.microsoft.com/office/drawing/2014/main" id="{956380F5-9252-D19D-B120-6AD1A3544D9D}"/>
              </a:ext>
            </a:extLst>
          </p:cNvPr>
          <p:cNvPicPr>
            <a:picLocks noChangeAspect="1"/>
          </p:cNvPicPr>
          <p:nvPr/>
        </p:nvPicPr>
        <p:blipFill>
          <a:blip r:embed="rId4"/>
          <a:stretch>
            <a:fillRect/>
          </a:stretch>
        </p:blipFill>
        <p:spPr>
          <a:xfrm>
            <a:off x="634181" y="3076852"/>
            <a:ext cx="274320" cy="274320"/>
          </a:xfrm>
          <a:prstGeom prst="rect">
            <a:avLst/>
          </a:prstGeom>
        </p:spPr>
      </p:pic>
      <p:sp>
        <p:nvSpPr>
          <p:cNvPr id="16" name="TextBox 15">
            <a:extLst>
              <a:ext uri="{FF2B5EF4-FFF2-40B4-BE49-F238E27FC236}">
                <a16:creationId xmlns:a16="http://schemas.microsoft.com/office/drawing/2014/main" id="{7E6DB4CF-CA4A-B9E5-50B9-EA7DADB020A7}"/>
              </a:ext>
            </a:extLst>
          </p:cNvPr>
          <p:cNvSpPr txBox="1"/>
          <p:nvPr/>
        </p:nvSpPr>
        <p:spPr>
          <a:xfrm>
            <a:off x="1170432" y="3042648"/>
            <a:ext cx="7916934" cy="369332"/>
          </a:xfrm>
          <a:prstGeom prst="rect">
            <a:avLst/>
          </a:prstGeom>
          <a:noFill/>
        </p:spPr>
        <p:txBody>
          <a:bodyPr wrap="square" rtlCol="0">
            <a:spAutoFit/>
          </a:bodyPr>
          <a:lstStyle/>
          <a:p>
            <a:r>
              <a:rPr lang="en-IN" b="1" dirty="0">
                <a:latin typeface="+mj-lt"/>
              </a:rPr>
              <a:t>Relevant data or facts.</a:t>
            </a:r>
          </a:p>
        </p:txBody>
      </p:sp>
      <p:sp>
        <p:nvSpPr>
          <p:cNvPr id="17" name="TextBox 16">
            <a:extLst>
              <a:ext uri="{FF2B5EF4-FFF2-40B4-BE49-F238E27FC236}">
                <a16:creationId xmlns:a16="http://schemas.microsoft.com/office/drawing/2014/main" id="{3C0303B6-BFF2-0807-749A-B28DEC142BB6}"/>
              </a:ext>
            </a:extLst>
          </p:cNvPr>
          <p:cNvSpPr txBox="1"/>
          <p:nvPr/>
        </p:nvSpPr>
        <p:spPr>
          <a:xfrm>
            <a:off x="1130046" y="3346652"/>
            <a:ext cx="11061954" cy="1384995"/>
          </a:xfrm>
          <a:prstGeom prst="rect">
            <a:avLst/>
          </a:prstGeom>
          <a:noFill/>
        </p:spPr>
        <p:txBody>
          <a:bodyPr wrap="square" rtlCol="0">
            <a:spAutoFit/>
          </a:bodyPr>
          <a:lstStyle/>
          <a:p>
            <a:pPr marL="285750" indent="-285750">
              <a:buFont typeface="Arial" panose="020B0604020202020204" pitchFamily="34" charset="0"/>
              <a:buChar char="•"/>
            </a:pPr>
            <a:r>
              <a:rPr lang="en-IN" sz="1400" b="1" dirty="0"/>
              <a:t>Information gap - </a:t>
            </a:r>
            <a:r>
              <a:rPr lang="en-IN" sz="1400" dirty="0"/>
              <a:t>Routes and timetable information alone may not tell passengers when a bus will actually arrive.</a:t>
            </a:r>
          </a:p>
          <a:p>
            <a:pPr marL="285750" indent="-285750">
              <a:buFont typeface="Arial" panose="020B0604020202020204" pitchFamily="34" charset="0"/>
              <a:buChar char="•"/>
            </a:pPr>
            <a:r>
              <a:rPr lang="en-IN" sz="1400" b="1" dirty="0"/>
              <a:t>Visibility </a:t>
            </a:r>
            <a:r>
              <a:rPr lang="en-IN" sz="1400" dirty="0"/>
              <a:t>- without real time tracking, passengers may find it difficult to estimate waiting and journey times.</a:t>
            </a:r>
          </a:p>
          <a:p>
            <a:pPr marL="285750" indent="-285750">
              <a:buFont typeface="Arial" panose="020B0604020202020204" pitchFamily="34" charset="0"/>
              <a:buChar char="•"/>
            </a:pPr>
            <a:r>
              <a:rPr lang="en-IN" sz="1400" b="1" dirty="0"/>
              <a:t>Journey Planning - </a:t>
            </a:r>
            <a:r>
              <a:rPr lang="en-IN" sz="1400" dirty="0"/>
              <a:t>A</a:t>
            </a:r>
            <a:r>
              <a:rPr lang="en-IN" sz="1400" b="1" dirty="0"/>
              <a:t> </a:t>
            </a:r>
            <a:r>
              <a:rPr lang="en-IN" sz="1400" dirty="0"/>
              <a:t>lack of integrated route and arrival information can make choosing between available travel options harder.</a:t>
            </a:r>
          </a:p>
          <a:p>
            <a:pPr marL="285750" indent="-285750">
              <a:buFont typeface="Arial" panose="020B0604020202020204" pitchFamily="34" charset="0"/>
              <a:buChar char="•"/>
            </a:pPr>
            <a:r>
              <a:rPr lang="en-IN" sz="1400" b="1" dirty="0"/>
              <a:t>Research needed:</a:t>
            </a:r>
            <a:r>
              <a:rPr lang="en-IN" sz="1400" dirty="0"/>
              <a:t> District-level bus availability, passenger usage, waiting times, and existing digital tracking coverage can help validate the scale of the problem.</a:t>
            </a:r>
          </a:p>
          <a:p>
            <a:pPr marL="285750" indent="-285750">
              <a:buFont typeface="Arial" panose="020B0604020202020204" pitchFamily="34" charset="0"/>
              <a:buChar char="•"/>
            </a:pPr>
            <a:endParaRPr lang="en-IN" sz="1400" dirty="0"/>
          </a:p>
        </p:txBody>
      </p:sp>
      <p:sp>
        <p:nvSpPr>
          <p:cNvPr id="19" name="Lead Icon Hex">
            <a:extLst>
              <a:ext uri="{FF2B5EF4-FFF2-40B4-BE49-F238E27FC236}">
                <a16:creationId xmlns:a16="http://schemas.microsoft.com/office/drawing/2014/main" id="{8B9A54A3-8418-EA2C-EF28-0114F340C59B}"/>
              </a:ext>
            </a:extLst>
          </p:cNvPr>
          <p:cNvSpPr/>
          <p:nvPr/>
        </p:nvSpPr>
        <p:spPr>
          <a:xfrm>
            <a:off x="461772" y="4549983"/>
            <a:ext cx="457200" cy="395935"/>
          </a:xfrm>
          <a:prstGeom prst="hexagon">
            <a:avLst/>
          </a:prstGeom>
          <a:solidFill>
            <a:schemeClr val="accent3"/>
          </a:solidFill>
          <a:ln/>
        </p:spPr>
        <p:txBody>
          <a:bodyPr/>
          <a:lstStyle/>
          <a:p>
            <a:endParaRPr lang="en-US"/>
          </a:p>
        </p:txBody>
      </p:sp>
      <p:pic>
        <p:nvPicPr>
          <p:cNvPr id="21" name="Lead Icon" descr="Lightbulb icon">
            <a:extLst>
              <a:ext uri="{FF2B5EF4-FFF2-40B4-BE49-F238E27FC236}">
                <a16:creationId xmlns:a16="http://schemas.microsoft.com/office/drawing/2014/main" id="{081F552C-C958-F9E2-5DB5-8C489FFBACC6}"/>
              </a:ext>
            </a:extLst>
          </p:cNvPr>
          <p:cNvPicPr>
            <a:picLocks noChangeAspect="1"/>
          </p:cNvPicPr>
          <p:nvPr/>
        </p:nvPicPr>
        <p:blipFill>
          <a:blip r:embed="rId4"/>
          <a:stretch>
            <a:fillRect/>
          </a:stretch>
        </p:blipFill>
        <p:spPr>
          <a:xfrm>
            <a:off x="553212" y="4612300"/>
            <a:ext cx="274320" cy="274320"/>
          </a:xfrm>
          <a:prstGeom prst="rect">
            <a:avLst/>
          </a:prstGeom>
        </p:spPr>
      </p:pic>
      <p:sp>
        <p:nvSpPr>
          <p:cNvPr id="22" name="TextBox 21">
            <a:extLst>
              <a:ext uri="{FF2B5EF4-FFF2-40B4-BE49-F238E27FC236}">
                <a16:creationId xmlns:a16="http://schemas.microsoft.com/office/drawing/2014/main" id="{CB890904-04A2-1A1D-D4B9-A1C7C017A91B}"/>
              </a:ext>
            </a:extLst>
          </p:cNvPr>
          <p:cNvSpPr txBox="1"/>
          <p:nvPr/>
        </p:nvSpPr>
        <p:spPr>
          <a:xfrm>
            <a:off x="1101852" y="4487571"/>
            <a:ext cx="3419782" cy="369332"/>
          </a:xfrm>
          <a:prstGeom prst="rect">
            <a:avLst/>
          </a:prstGeom>
          <a:noFill/>
        </p:spPr>
        <p:txBody>
          <a:bodyPr wrap="none" rtlCol="0">
            <a:spAutoFit/>
          </a:bodyPr>
          <a:lstStyle/>
          <a:p>
            <a:r>
              <a:rPr lang="en-IN" b="1" dirty="0">
                <a:latin typeface="+mj-lt"/>
              </a:rPr>
              <a:t>Current workflow step by step.</a:t>
            </a:r>
          </a:p>
        </p:txBody>
      </p:sp>
      <p:sp>
        <p:nvSpPr>
          <p:cNvPr id="23" name="TextBox 22">
            <a:extLst>
              <a:ext uri="{FF2B5EF4-FFF2-40B4-BE49-F238E27FC236}">
                <a16:creationId xmlns:a16="http://schemas.microsoft.com/office/drawing/2014/main" id="{9D9D49BE-5397-8AF7-CD1A-3FBDD653D58B}"/>
              </a:ext>
            </a:extLst>
          </p:cNvPr>
          <p:cNvSpPr txBox="1"/>
          <p:nvPr/>
        </p:nvSpPr>
        <p:spPr>
          <a:xfrm>
            <a:off x="1170432" y="4856903"/>
            <a:ext cx="10763832" cy="1661993"/>
          </a:xfrm>
          <a:prstGeom prst="rect">
            <a:avLst/>
          </a:prstGeom>
          <a:noFill/>
        </p:spPr>
        <p:txBody>
          <a:bodyPr wrap="square" rtlCol="0">
            <a:spAutoFit/>
          </a:bodyPr>
          <a:lstStyle/>
          <a:p>
            <a:pPr marL="285750" lvl="0" indent="-285750">
              <a:buFont typeface="Arial" panose="020B0604020202020204" pitchFamily="34" charset="0"/>
              <a:buChar char="•"/>
            </a:pPr>
            <a:r>
              <a:rPr lang="en-IN" sz="1400" b="1" dirty="0"/>
              <a:t>Identify the destination:</a:t>
            </a:r>
            <a:r>
              <a:rPr lang="en-IN" sz="1400" dirty="0"/>
              <a:t> The passenger decides where they need to travel.</a:t>
            </a:r>
          </a:p>
          <a:p>
            <a:pPr marL="285750" lvl="0" indent="-285750">
              <a:buFont typeface="Arial" panose="020B0604020202020204" pitchFamily="34" charset="0"/>
              <a:buChar char="•"/>
            </a:pPr>
            <a:r>
              <a:rPr lang="en-IN" sz="1400" b="1" dirty="0"/>
              <a:t>Find a bus route:</a:t>
            </a:r>
            <a:r>
              <a:rPr lang="en-IN" sz="1400" dirty="0"/>
              <a:t> They check a timetable, ask someone, or rely on personal knowledge.</a:t>
            </a:r>
          </a:p>
          <a:p>
            <a:pPr marL="285750" lvl="0" indent="-285750">
              <a:buFont typeface="Arial" panose="020B0604020202020204" pitchFamily="34" charset="0"/>
              <a:buChar char="•"/>
            </a:pPr>
            <a:r>
              <a:rPr lang="en-IN" sz="1400" b="1" dirty="0"/>
              <a:t>Reach the bus stop:</a:t>
            </a:r>
            <a:r>
              <a:rPr lang="en-IN" sz="1400" dirty="0"/>
              <a:t> They travel to the stop without necessarily knowing the bus's live location.</a:t>
            </a:r>
          </a:p>
          <a:p>
            <a:pPr marL="285750" lvl="0" indent="-285750">
              <a:buFont typeface="Arial" panose="020B0604020202020204" pitchFamily="34" charset="0"/>
              <a:buChar char="•"/>
            </a:pPr>
            <a:r>
              <a:rPr lang="en-IN" sz="1400" b="1" dirty="0"/>
              <a:t>Wait for the bus:</a:t>
            </a:r>
            <a:r>
              <a:rPr lang="en-IN" sz="1400" dirty="0"/>
              <a:t> They may be uncertain about the actual arrival time or possible delays.</a:t>
            </a:r>
          </a:p>
          <a:p>
            <a:pPr marL="285750" lvl="0" indent="-285750">
              <a:buFont typeface="Arial" panose="020B0604020202020204" pitchFamily="34" charset="0"/>
              <a:buChar char="•"/>
            </a:pPr>
            <a:r>
              <a:rPr lang="en-IN" sz="1400" b="1" dirty="0"/>
              <a:t>Board and travel:</a:t>
            </a:r>
            <a:r>
              <a:rPr lang="en-IN" sz="1400" dirty="0"/>
              <a:t> They take the available bus, sometimes with limited information about connections or total journey duration.</a:t>
            </a:r>
          </a:p>
          <a:p>
            <a:pPr marL="285750" lvl="0" indent="-285750">
              <a:buFont typeface="Arial" panose="020B0604020202020204" pitchFamily="34" charset="0"/>
              <a:buChar char="•"/>
            </a:pPr>
            <a:r>
              <a:rPr lang="en-IN" sz="1400" b="1" dirty="0"/>
              <a:t>Reach the destination:</a:t>
            </a:r>
            <a:r>
              <a:rPr lang="en-IN" sz="1400" dirty="0"/>
              <a:t> Unexpected waiting or missed connections may affect the overall travel time.</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US"/>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US"/>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Zenix</a:t>
            </a:r>
            <a:endParaRPr lang="en-US" sz="9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
        <p:nvSpPr>
          <p:cNvPr id="11" name="TextBox 10">
            <a:extLst>
              <a:ext uri="{FF2B5EF4-FFF2-40B4-BE49-F238E27FC236}">
                <a16:creationId xmlns:a16="http://schemas.microsoft.com/office/drawing/2014/main" id="{10226F94-C424-5B15-2DAE-5AA060DE1454}"/>
              </a:ext>
            </a:extLst>
          </p:cNvPr>
          <p:cNvSpPr txBox="1"/>
          <p:nvPr/>
        </p:nvSpPr>
        <p:spPr>
          <a:xfrm>
            <a:off x="226142" y="1739414"/>
            <a:ext cx="11739715" cy="6186309"/>
          </a:xfrm>
          <a:prstGeom prst="rect">
            <a:avLst/>
          </a:prstGeom>
          <a:noFill/>
        </p:spPr>
        <p:txBody>
          <a:bodyPr wrap="square" lIns="91440" tIns="45720" rIns="91440" bIns="45720" rtlCol="0">
            <a:spAutoFit/>
          </a:bodyPr>
          <a:lstStyle/>
          <a:p>
            <a:r>
              <a:rPr lang="en-IN" b="1" dirty="0">
                <a:latin typeface="+mj-lt"/>
              </a:rPr>
              <a:t>1. Main Difficulties and Bottlenecks</a:t>
            </a:r>
          </a:p>
          <a:p>
            <a:r>
              <a:rPr lang="en-US" dirty="0"/>
              <a:t>	</a:t>
            </a:r>
            <a:r>
              <a:rPr lang="en-US" sz="1600" dirty="0"/>
              <a:t>Developing the application involves obtaining reliable bus-location data, predicting arrival times accurately, integrating route and fare information, and adapting to changing traffic conditions. Deploying the system across local bus services also presents challenges, as different routes and operators may have different levels of digital infrastructure.</a:t>
            </a:r>
          </a:p>
          <a:p>
            <a:endParaRPr lang="en-US" sz="1600">
              <a:latin typeface="Calibri"/>
              <a:ea typeface="Calibri"/>
              <a:cs typeface="Calibri"/>
            </a:endParaRPr>
          </a:p>
          <a:p>
            <a:r>
              <a:rPr lang="en-IN" b="1" dirty="0">
                <a:latin typeface="+mj-lt"/>
              </a:rPr>
              <a:t>2. Root Causes Behind Them</a:t>
            </a:r>
          </a:p>
          <a:p>
            <a:r>
              <a:rPr lang="en-US" sz="1600" dirty="0"/>
              <a:t>	The main challenges include limited access to official real-time data, the possible absence of GPS trackers on some buses, and limited resources. Real world deployment may also require transport department approval, cooperation from bus operators, installation or integration of tracking devices, funding, internet connectivity, and ongoing technical maintenance to keep bus data updated, ensure reliable system performance, and fix technical issues.</a:t>
            </a:r>
            <a:endParaRPr lang="en-US" sz="1600"/>
          </a:p>
          <a:p>
            <a:endParaRPr lang="en-US" sz="1600">
              <a:latin typeface="Calibri"/>
              <a:ea typeface="Calibri"/>
              <a:cs typeface="Calibri"/>
            </a:endParaRPr>
          </a:p>
          <a:p>
            <a:r>
              <a:rPr lang="en-IN" b="1" dirty="0">
                <a:latin typeface="+mj-lt"/>
              </a:rPr>
              <a:t>3. Consequences of Leaving Them Unsolved</a:t>
            </a:r>
          </a:p>
          <a:p>
            <a:r>
              <a:rPr lang="en-US" dirty="0"/>
              <a:t>	</a:t>
            </a:r>
            <a:r>
              <a:rPr lang="en-US" sz="1600" dirty="0"/>
              <a:t>These challenges could lead to inaccurate arrival estimates, incomplete information, and unreliable travel recommendations. Without sufficient operator cooperation and infrastructure, expanding the app beyond a prototype may be difficult and costly. Therefore, we plan to begin with a small set of local bus routes, test the system using available or simulated data, and gradually expand as reliable data sources and deployment support become available.</a:t>
            </a:r>
          </a:p>
          <a:p>
            <a:endParaRPr lang="en-IN" b="1" dirty="0">
              <a:latin typeface="+mj-lt"/>
            </a:endParaRPr>
          </a:p>
          <a:p>
            <a:pPr lvl="1"/>
            <a:r>
              <a:rPr lang="en-IN" sz="1600" dirty="0"/>
              <a:t>	</a:t>
            </a:r>
            <a:endParaRPr lang="en-IN" sz="1600">
              <a:ea typeface="Calibri"/>
              <a:cs typeface="Calibri"/>
            </a:endParaRPr>
          </a:p>
          <a:p>
            <a:pPr lvl="1"/>
            <a:endParaRPr lang="en-IN" sz="1600" dirty="0"/>
          </a:p>
          <a:p>
            <a:pPr lvl="1"/>
            <a:endParaRPr lang="en-IN" sz="1600" dirty="0"/>
          </a:p>
          <a:p>
            <a:pPr lvl="1"/>
            <a:endParaRPr lang="en-IN" sz="1600" dirty="0"/>
          </a:p>
          <a:p>
            <a:pPr lvl="1"/>
            <a:endParaRPr lang="en-IN" sz="1600" dirty="0"/>
          </a:p>
          <a:p>
            <a:pPr lvl="1"/>
            <a:endParaRPr lang="en-IN" sz="1600" dirty="0"/>
          </a:p>
          <a:p>
            <a:pPr lvl="1"/>
            <a:endParaRPr lang="en-IN"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US"/>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US"/>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Zenix</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US"/>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914400" y="19202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b="1"/>
              <a:t>Existing methods, systems or </a:t>
            </a:r>
            <a:r>
              <a:rPr lang="en-US" b="1"/>
              <a:t>alternatives:</a:t>
            </a:r>
            <a:endParaRPr lang="en-US" sz="1800" b="1">
              <a:ea typeface="Calibri"/>
              <a:cs typeface="Calibri"/>
            </a:endParaRPr>
          </a:p>
          <a:p>
            <a:pPr>
              <a:spcAft>
                <a:spcPts val="1000"/>
              </a:spcAft>
              <a:buClr>
                <a:schemeClr val="accent1"/>
              </a:buClr>
              <a:buSzPct val="100000"/>
            </a:pPr>
            <a:r>
              <a:rPr lang="en-US" dirty="0"/>
              <a:t>	Local bus passengers rely on traditional timetables, bus stop boards, passenger enquiries, and digital services such as Chennai One (in supported districts), and navigation apps such as Google Maps. These provide route information, journey planning, and live tracking for supported services.</a:t>
            </a:r>
            <a:endParaRPr lang="en-US" sz="1800" dirty="0"/>
          </a:p>
          <a:p>
            <a:pPr marL="279400" indent="-279400">
              <a:spcAft>
                <a:spcPts val="1000"/>
              </a:spcAft>
              <a:buClr>
                <a:schemeClr val="accent1"/>
              </a:buClr>
              <a:buSzPct val="100000"/>
              <a:buChar char="•"/>
            </a:pPr>
            <a:r>
              <a:rPr lang="en-US" sz="1800" b="1"/>
              <a:t>Limitations of each</a:t>
            </a:r>
            <a:r>
              <a:rPr lang="en-US" b="1"/>
              <a:t>:</a:t>
            </a:r>
            <a:endParaRPr lang="en-US" sz="1800" b="1">
              <a:ea typeface="Calibri"/>
              <a:cs typeface="Calibri"/>
            </a:endParaRPr>
          </a:p>
          <a:p>
            <a:pPr lvl="1">
              <a:spcAft>
                <a:spcPts val="1000"/>
              </a:spcAft>
              <a:buClr>
                <a:schemeClr val="accent1"/>
              </a:buClr>
              <a:buSzPct val="100000"/>
            </a:pPr>
            <a:r>
              <a:rPr lang="en-US" dirty="0"/>
              <a:t>	Timetables cannot reflect unexpected delays or confirm a bus's actual location. Digital services vary in coverage and available features, while navigation apps may not provide complete real time information for every local bus. Passengers may still need to check multiple sources to plan their journeys.</a:t>
            </a:r>
          </a:p>
          <a:p>
            <a:pPr marL="279400" indent="-279400">
              <a:spcAft>
                <a:spcPts val="1000"/>
              </a:spcAft>
              <a:buClr>
                <a:schemeClr val="accent1"/>
              </a:buClr>
              <a:buSzPct val="100000"/>
              <a:buChar char="•"/>
            </a:pPr>
            <a:r>
              <a:rPr lang="en-US" sz="1800" b="1"/>
              <a:t>The gap they leave open (Key Challenges</a:t>
            </a:r>
            <a:r>
              <a:rPr lang="en-US" b="1"/>
              <a:t>):</a:t>
            </a:r>
            <a:endParaRPr lang="en-US" sz="1800" b="1">
              <a:ea typeface="Calibri"/>
              <a:cs typeface="Calibri"/>
            </a:endParaRPr>
          </a:p>
          <a:p>
            <a:pPr>
              <a:spcAft>
                <a:spcPts val="1000"/>
              </a:spcAft>
              <a:buClr>
                <a:schemeClr val="accent1"/>
              </a:buClr>
              <a:buSzPct val="100000"/>
            </a:pPr>
            <a:r>
              <a:rPr lang="en-US" dirty="0"/>
              <a:t>	There is a need for a unified, passenger-focused system that helps users find suitable local buses, estimate arrival and journey times, check fares, and receive timely alerts. The key challenge is to combine available transport information into one convenient platform while providing useful estimates even when live bus-tracking data is unavailable.</a:t>
            </a:r>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US"/>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US"/>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err="1">
                <a:solidFill>
                  <a:schemeClr val="accent1"/>
                </a:solidFill>
                <a:ea typeface="Calibri"/>
                <a:cs typeface="Calibri"/>
              </a:rPr>
              <a:t>Zenix</a:t>
            </a:r>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US"/>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905550" y="1780131"/>
            <a:ext cx="10375000" cy="2125242"/>
          </a:xfrm>
          <a:prstGeom prst="rect">
            <a:avLst/>
          </a:prstGeom>
          <a:noFill/>
          <a:ln/>
        </p:spPr>
        <p:txBody>
          <a:bodyPr wrap="square" lIns="0" tIns="0" rIns="0" bIns="0" rtlCol="0" anchor="t"/>
          <a:lstStyle/>
          <a:p>
            <a:pPr>
              <a:buClr>
                <a:schemeClr val="accent1"/>
              </a:buClr>
              <a:buSzPct val="100000"/>
              <a:buFont typeface="Arial"/>
              <a:buChar char="•"/>
            </a:pPr>
            <a:endParaRPr lang="en-US" sz="1300" dirty="0">
              <a:ea typeface="Calibri"/>
              <a:cs typeface="Calibri"/>
            </a:endParaRPr>
          </a:p>
          <a:p>
            <a:pPr>
              <a:buClr>
                <a:schemeClr val="accent1"/>
              </a:buClr>
              <a:buSzPct val="100000"/>
            </a:pPr>
            <a:r>
              <a:rPr lang="en-US" sz="1300" dirty="0"/>
              <a:t>1</a:t>
            </a:r>
            <a:r>
              <a:rPr lang="en-US" sz="1600" dirty="0"/>
              <a:t>. </a:t>
            </a:r>
            <a:r>
              <a:rPr lang="en-US" sz="1600" b="1" dirty="0"/>
              <a:t>Hardware Requirements</a:t>
            </a:r>
            <a:endParaRPr lang="en-US" sz="1600" b="1" dirty="0">
              <a:ea typeface="Calibri"/>
              <a:cs typeface="Calibri"/>
            </a:endParaRPr>
          </a:p>
          <a:p>
            <a:pPr lvl="1">
              <a:buFont typeface="Arial"/>
              <a:buChar char="•"/>
            </a:pPr>
            <a:r>
              <a:rPr lang="en-US" sz="1400" b="1" dirty="0">
                <a:ea typeface="+mn-lt"/>
                <a:cs typeface="+mn-lt"/>
              </a:rPr>
              <a:t> GPS tracking devices:</a:t>
            </a:r>
            <a:r>
              <a:rPr lang="en-US" sz="1400" dirty="0">
                <a:ea typeface="+mn-lt"/>
                <a:cs typeface="+mn-lt"/>
              </a:rPr>
              <a:t> One per bus, unless existing vehicle tracking devices (VLTDs) can be accessed.</a:t>
            </a:r>
            <a:endParaRPr lang="en-US" sz="1400" dirty="0">
              <a:ea typeface="Calibri"/>
              <a:cs typeface="Calibri"/>
            </a:endParaRPr>
          </a:p>
          <a:p>
            <a:pPr lvl="1">
              <a:buFont typeface="Arial"/>
              <a:buChar char="•"/>
            </a:pPr>
            <a:r>
              <a:rPr lang="en-US" sz="1400" b="1" dirty="0">
                <a:ea typeface="+mn-lt"/>
                <a:cs typeface="+mn-lt"/>
              </a:rPr>
              <a:t> Mobile connectivity:</a:t>
            </a:r>
            <a:r>
              <a:rPr lang="en-US" sz="1400" dirty="0">
                <a:ea typeface="+mn-lt"/>
                <a:cs typeface="+mn-lt"/>
              </a:rPr>
              <a:t> SIM card and mobile data for transmitting GPS coordinates to the server.</a:t>
            </a:r>
            <a:endParaRPr lang="en-US" sz="1400" dirty="0">
              <a:ea typeface="Calibri"/>
              <a:cs typeface="Calibri"/>
            </a:endParaRPr>
          </a:p>
          <a:p>
            <a:pPr lvl="1">
              <a:buFont typeface="Arial"/>
              <a:buChar char="•"/>
            </a:pPr>
            <a:r>
              <a:rPr lang="en-US" sz="1400" b="1" dirty="0">
                <a:ea typeface="+mn-lt"/>
                <a:cs typeface="+mn-lt"/>
              </a:rPr>
              <a:t> Power supply:</a:t>
            </a:r>
            <a:r>
              <a:rPr lang="en-US" sz="1400" dirty="0">
                <a:ea typeface="+mn-lt"/>
                <a:cs typeface="+mn-lt"/>
              </a:rPr>
              <a:t> Bus electrical power for permanently installed trackers; phone battery for prototype testing.</a:t>
            </a:r>
            <a:endParaRPr lang="en-US" sz="1400" dirty="0">
              <a:ea typeface="Calibri"/>
              <a:cs typeface="Calibri"/>
            </a:endParaRPr>
          </a:p>
          <a:p>
            <a:endParaRPr lang="en-US" sz="1300" dirty="0">
              <a:ea typeface="Calibri"/>
              <a:cs typeface="Calibri"/>
            </a:endParaRPr>
          </a:p>
          <a:p>
            <a:r>
              <a:rPr lang="en-US" sz="1600" dirty="0"/>
              <a:t>2. </a:t>
            </a:r>
            <a:r>
              <a:rPr lang="en-US" sz="1600" b="1" dirty="0"/>
              <a:t>Software Requirements</a:t>
            </a:r>
            <a:endParaRPr lang="en-US" sz="1600" b="1" dirty="0">
              <a:ea typeface="Calibri"/>
              <a:cs typeface="Calibri"/>
            </a:endParaRPr>
          </a:p>
          <a:p>
            <a:pPr lvl="1">
              <a:buFont typeface="Arial"/>
              <a:buChar char="•"/>
            </a:pPr>
            <a:r>
              <a:rPr lang="en-US" sz="1400" b="1" dirty="0">
                <a:ea typeface="+mn-lt"/>
                <a:cs typeface="+mn-lt"/>
              </a:rPr>
              <a:t> Cloud hosting:</a:t>
            </a:r>
            <a:r>
              <a:rPr lang="en-US" sz="1400" dirty="0">
                <a:ea typeface="+mn-lt"/>
                <a:cs typeface="+mn-lt"/>
              </a:rPr>
              <a:t> A cloud server or college-provided server to host the application and database.</a:t>
            </a:r>
            <a:endParaRPr lang="en-US" sz="1400" dirty="0">
              <a:ea typeface="Calibri"/>
              <a:cs typeface="Calibri"/>
            </a:endParaRPr>
          </a:p>
          <a:p>
            <a:pPr lvl="1">
              <a:buFont typeface="Arial"/>
              <a:buChar char="•"/>
            </a:pPr>
            <a:r>
              <a:rPr lang="en-US" sz="1400" b="1" dirty="0">
                <a:ea typeface="+mn-lt"/>
                <a:cs typeface="+mn-lt"/>
              </a:rPr>
              <a:t> Transit data:</a:t>
            </a:r>
            <a:r>
              <a:rPr lang="en-US" sz="1400" dirty="0">
                <a:ea typeface="+mn-lt"/>
                <a:cs typeface="+mn-lt"/>
              </a:rPr>
              <a:t> GTFS Schedule for routes, stops and timetables; GTFS-Realtime for vehicle positions and arrival updates, where available.</a:t>
            </a:r>
            <a:endParaRPr lang="en-US" sz="1400" dirty="0">
              <a:ea typeface="Calibri"/>
              <a:cs typeface="Calibri"/>
            </a:endParaRPr>
          </a:p>
          <a:p>
            <a:pPr lvl="1">
              <a:buFont typeface="Arial"/>
              <a:buChar char="•"/>
            </a:pPr>
            <a:r>
              <a:rPr lang="en-US" sz="1400" b="1" dirty="0">
                <a:ea typeface="+mn-lt"/>
                <a:cs typeface="+mn-lt"/>
              </a:rPr>
              <a:t> Development tools:</a:t>
            </a:r>
            <a:r>
              <a:rPr lang="en-US" sz="1400" dirty="0">
                <a:ea typeface="+mn-lt"/>
                <a:cs typeface="+mn-lt"/>
              </a:rPr>
              <a:t> An existing VLTD provider's </a:t>
            </a:r>
            <a:r>
              <a:rPr lang="en-US" sz="1400" dirty="0" err="1">
                <a:ea typeface="+mn-lt"/>
                <a:cs typeface="+mn-lt"/>
              </a:rPr>
              <a:t>authorised</a:t>
            </a:r>
            <a:r>
              <a:rPr lang="en-US" sz="1400" dirty="0">
                <a:ea typeface="+mn-lt"/>
                <a:cs typeface="+mn-lt"/>
              </a:rPr>
              <a:t> API may be integrated if access is granted.</a:t>
            </a:r>
            <a:endParaRPr lang="en-US" sz="1400" dirty="0">
              <a:ea typeface="Calibri"/>
              <a:cs typeface="Calibri"/>
            </a:endParaRPr>
          </a:p>
          <a:p>
            <a:pPr>
              <a:buFont typeface="Arial"/>
              <a:buChar char="•"/>
            </a:pPr>
            <a:endParaRPr lang="en-US" sz="1300" dirty="0">
              <a:ea typeface="Calibri"/>
              <a:cs typeface="Calibri"/>
            </a:endParaRPr>
          </a:p>
          <a:p>
            <a:r>
              <a:rPr lang="en-US" sz="1600" dirty="0"/>
              <a:t>3. </a:t>
            </a:r>
            <a:r>
              <a:rPr lang="en-US" sz="1600" b="1" dirty="0"/>
              <a:t>Other Legal Requirements</a:t>
            </a:r>
            <a:endParaRPr lang="en-US" sz="1600" b="1" dirty="0">
              <a:ea typeface="Calibri"/>
              <a:cs typeface="Calibri"/>
            </a:endParaRPr>
          </a:p>
          <a:p>
            <a:pPr lvl="1">
              <a:buFont typeface="Arial"/>
              <a:buChar char="•"/>
            </a:pPr>
            <a:r>
              <a:rPr lang="en-US" sz="1400" dirty="0">
                <a:ea typeface="+mn-lt"/>
                <a:cs typeface="+mn-lt"/>
              </a:rPr>
              <a:t> Authorization to access existing VLTD data or install tracking devices.</a:t>
            </a:r>
            <a:endParaRPr lang="en-US" sz="1400" dirty="0">
              <a:ea typeface="Calibri"/>
              <a:cs typeface="Calibri"/>
            </a:endParaRPr>
          </a:p>
          <a:p>
            <a:pPr lvl="1">
              <a:buFont typeface="Arial"/>
              <a:buChar char="•"/>
            </a:pPr>
            <a:r>
              <a:rPr lang="en-US" sz="1400" dirty="0">
                <a:ea typeface="+mn-lt"/>
                <a:cs typeface="+mn-lt"/>
              </a:rPr>
              <a:t> Approval to use and publish route, schedule and stop information.</a:t>
            </a:r>
            <a:endParaRPr lang="en-US" sz="1400" dirty="0">
              <a:ea typeface="Calibri"/>
              <a:cs typeface="Calibri"/>
            </a:endParaRPr>
          </a:p>
          <a:p>
            <a:pPr lvl="1">
              <a:buFont typeface="Arial"/>
              <a:buChar char="•"/>
            </a:pPr>
            <a:r>
              <a:rPr lang="en-US" sz="1400" dirty="0">
                <a:ea typeface="+mn-lt"/>
                <a:cs typeface="+mn-lt"/>
              </a:rPr>
              <a:t> Verification of applicable vehicle-tracking hardware and regulatory requirements.</a:t>
            </a:r>
            <a:endParaRPr lang="en-US" sz="1400" dirty="0">
              <a:ea typeface="Calibri"/>
              <a:cs typeface="Calibri"/>
            </a:endParaRPr>
          </a:p>
          <a:p>
            <a:pPr lvl="1">
              <a:buFont typeface="Arial"/>
              <a:buChar char="•"/>
            </a:pPr>
            <a:r>
              <a:rPr lang="en-US" sz="1400" dirty="0">
                <a:ea typeface="+mn-lt"/>
                <a:cs typeface="+mn-lt"/>
              </a:rPr>
              <a:t> Review of privacy, location-data security and data-retention obligations.</a:t>
            </a:r>
            <a:r>
              <a:rPr lang="en-US" sz="1400" dirty="0">
                <a:ea typeface="Calibri"/>
                <a:cs typeface="Calibri"/>
              </a:rPr>
              <a:t>	</a:t>
            </a:r>
            <a:r>
              <a:rPr lang="en-US" sz="1300" dirty="0">
                <a:ea typeface="Calibri"/>
                <a:cs typeface="Calibri"/>
              </a:rPr>
              <a:t>	</a:t>
            </a:r>
          </a:p>
          <a:p>
            <a:pPr lvl="1"/>
            <a:endParaRPr lang="en-US" sz="1300" dirty="0">
              <a:ea typeface="Calibri"/>
              <a:cs typeface="Calibri"/>
            </a:endParaRPr>
          </a:p>
          <a:p>
            <a:r>
              <a:rPr lang="en-US" sz="1600" dirty="0"/>
              <a:t>4. </a:t>
            </a:r>
            <a:r>
              <a:rPr lang="en-US" sz="1600" b="1" dirty="0"/>
              <a:t>Human Resource Requirements</a:t>
            </a:r>
            <a:endParaRPr lang="en-US" sz="1600" dirty="0">
              <a:ea typeface="Calibri"/>
              <a:cs typeface="Calibri"/>
            </a:endParaRPr>
          </a:p>
          <a:p>
            <a:pPr lvl="1">
              <a:buFont typeface="Arial"/>
              <a:buChar char="•"/>
            </a:pPr>
            <a:r>
              <a:rPr lang="en-US" sz="1400" dirty="0">
                <a:ea typeface="+mn-lt"/>
                <a:cs typeface="+mn-lt"/>
              </a:rPr>
              <a:t> Transport-authority for bus access and route data.</a:t>
            </a:r>
            <a:endParaRPr lang="en-US" sz="1400" dirty="0">
              <a:ea typeface="Calibri"/>
              <a:cs typeface="Calibri"/>
            </a:endParaRPr>
          </a:p>
          <a:p>
            <a:pPr lvl="1">
              <a:buFont typeface="Arial"/>
              <a:buChar char="•"/>
            </a:pPr>
            <a:r>
              <a:rPr lang="en-US" sz="1500" dirty="0">
                <a:ea typeface="+mn-lt"/>
                <a:cs typeface="+mn-lt"/>
              </a:rPr>
              <a:t> Field testers to validate GPS accuracy and ETA reliability.</a:t>
            </a:r>
            <a:endParaRPr lang="en-US" sz="1500" dirty="0">
              <a:ea typeface="Calibri"/>
              <a:cs typeface="Calibri"/>
            </a:endParaRPr>
          </a:p>
          <a:p>
            <a:pPr>
              <a:buFont typeface="Arial"/>
              <a:buChar char="•"/>
            </a:pPr>
            <a:endParaRPr lang="en-US"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US"/>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US"/>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err="1">
                <a:solidFill>
                  <a:schemeClr val="accent1"/>
                </a:solidFill>
                <a:ea typeface="Calibri"/>
                <a:cs typeface="Calibri"/>
              </a:rPr>
              <a:t>Zenix</a:t>
            </a:r>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US"/>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1990575"/>
            <a:ext cx="10424160" cy="1645920"/>
          </a:xfrm>
          <a:prstGeom prst="rect">
            <a:avLst/>
          </a:prstGeom>
          <a:noFill/>
          <a:ln/>
        </p:spPr>
        <p:txBody>
          <a:bodyPr wrap="square" lIns="0" tIns="0" rIns="0" bIns="0" rtlCol="0" anchor="t"/>
          <a:lstStyle/>
          <a:p>
            <a:pPr marL="279400" indent="-279400" algn="just">
              <a:spcAft>
                <a:spcPts val="1000"/>
              </a:spcAft>
              <a:buClr>
                <a:schemeClr val="accent1"/>
              </a:buClr>
              <a:buSzPct val="100000"/>
              <a:buChar char="•"/>
            </a:pPr>
            <a:r>
              <a:rPr lang="en-US" sz="1800" b="1"/>
              <a:t>What </a:t>
            </a:r>
            <a:r>
              <a:rPr lang="en-US" b="1"/>
              <a:t>our</a:t>
            </a:r>
            <a:r>
              <a:rPr lang="en-US" sz="1800" b="1"/>
              <a:t> team intends to do</a:t>
            </a:r>
            <a:endParaRPr lang="en-US" sz="1800" b="1">
              <a:ea typeface="Calibri"/>
              <a:cs typeface="Calibri"/>
            </a:endParaRPr>
          </a:p>
          <a:p>
            <a:pPr algn="just">
              <a:spcAft>
                <a:spcPts val="1000"/>
              </a:spcAft>
              <a:buClr>
                <a:schemeClr val="accent1"/>
              </a:buClr>
              <a:buSzPct val="100000"/>
            </a:pPr>
            <a:r>
              <a:rPr lang="en-US" dirty="0"/>
              <a:t>	</a:t>
            </a:r>
            <a:r>
              <a:rPr lang="en-US" sz="1600" dirty="0"/>
              <a:t>We aim to develop an intelligent local-bus application that integrates route information, timetables, fares, traffic conditions, and available bus-location data into a single platform. Using route-planning algorithms and ETA prediction techniques, the system will help passengers identify suitable buses and plan their journeys efficiently.</a:t>
            </a:r>
            <a:endParaRPr lang="en-US" sz="1800" dirty="0"/>
          </a:p>
          <a:p>
            <a:pPr marL="279400" indent="-279400" algn="just">
              <a:spcAft>
                <a:spcPts val="1000"/>
              </a:spcAft>
              <a:buClr>
                <a:schemeClr val="accent1"/>
              </a:buClr>
              <a:buSzPct val="100000"/>
              <a:buChar char="•"/>
            </a:pPr>
            <a:r>
              <a:rPr lang="en-US" sz="1800" b="1"/>
              <a:t>What</a:t>
            </a:r>
            <a:r>
              <a:rPr lang="en-US" b="1"/>
              <a:t> we</a:t>
            </a:r>
            <a:r>
              <a:rPr lang="en-US" sz="1800" b="1"/>
              <a:t> want to improve</a:t>
            </a:r>
            <a:endParaRPr lang="en-US" sz="1800" b="1">
              <a:ea typeface="Calibri"/>
              <a:cs typeface="Calibri"/>
            </a:endParaRPr>
          </a:p>
          <a:p>
            <a:pPr algn="just">
              <a:spcAft>
                <a:spcPts val="1000"/>
              </a:spcAft>
              <a:buClr>
                <a:schemeClr val="accent1"/>
              </a:buClr>
              <a:buSzPct val="100000"/>
            </a:pPr>
            <a:r>
              <a:rPr lang="en-US" dirty="0"/>
              <a:t>	</a:t>
            </a:r>
            <a:r>
              <a:rPr lang="en-US" sz="1600" dirty="0"/>
              <a:t>We aim to reduce uncertainty in bus arrival times, simplify route selection, and improve access to reliable travel information. The app will be made to offer estimated arrival times, traffic-aware journey planning, nearby bus-stop guidance, fare details, getting-off reminders, and timely alerts, while distinguishing live data from predictions.</a:t>
            </a:r>
            <a:endParaRPr lang="en-US" sz="1800" b="1">
              <a:ea typeface="Calibri"/>
              <a:cs typeface="Calibri"/>
            </a:endParaRPr>
          </a:p>
          <a:p>
            <a:pPr marL="279400" indent="-279400" algn="just">
              <a:spcAft>
                <a:spcPts val="1000"/>
              </a:spcAft>
              <a:buClr>
                <a:schemeClr val="accent1"/>
              </a:buClr>
              <a:buSzPct val="100000"/>
              <a:buChar char="•"/>
            </a:pPr>
            <a:r>
              <a:rPr lang="en-US" sz="1800" b="1"/>
              <a:t>What successful improvement should </a:t>
            </a:r>
            <a:r>
              <a:rPr lang="en-US" b="1"/>
              <a:t>we achieve</a:t>
            </a:r>
            <a:endParaRPr lang="en-US" sz="1800" b="1">
              <a:ea typeface="Calibri"/>
              <a:cs typeface="Calibri"/>
            </a:endParaRPr>
          </a:p>
          <a:p>
            <a:pPr algn="just">
              <a:spcAft>
                <a:spcPts val="1000"/>
              </a:spcAft>
              <a:buClr>
                <a:schemeClr val="accent1"/>
              </a:buClr>
              <a:buSzPct val="100000"/>
            </a:pPr>
            <a:r>
              <a:rPr lang="en-US" dirty="0"/>
              <a:t>	</a:t>
            </a:r>
            <a:r>
              <a:rPr lang="en-US" sz="1600" dirty="0"/>
              <a:t>Our goal is to develop a functional mobile application that provides useful bus arrival estimates, suitable route recommendations, and convenient journey planning through an integrated platform, including an AI-powered chatbot to help users find travel information through simple questions. We aim to demonstrate that combining transport data and intelligent algorithms can make local bus journeys easier to plan, reduce uncertainty, and improve passenger confidence. Initially tested on nearby local routes, it can potentially expand with permission from transport authorities to support wider deployment.</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US"/>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US"/>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Zenix</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US"/>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3474720"/>
        </p:xfrm>
        <a:graphic>
          <a:graphicData uri="http://schemas.openxmlformats.org/drawingml/2006/table">
            <a:tbl>
              <a:tblPr/>
              <a:tblGrid>
                <a:gridCol w="30175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Team Member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Responsibility in Execution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1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2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3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4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277</TotalTime>
  <Words>1713</Words>
  <Application>Microsoft Office PowerPoint</Application>
  <PresentationFormat>Widescreen</PresentationFormat>
  <Paragraphs>143</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Sarvesh Subramanian S</cp:lastModifiedBy>
  <cp:revision>7</cp:revision>
  <dcterms:created xsi:type="dcterms:W3CDTF">2026-10-07T15:27:40Z</dcterms:created>
  <dcterms:modified xsi:type="dcterms:W3CDTF">2026-10-09T17:52:53Z</dcterms:modified>
</cp:coreProperties>
</file>